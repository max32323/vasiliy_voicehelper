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maket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9011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749039" y="4572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000">
                <a:latin typeface="Arial Black"/>
              </a:defRPr>
            </a:pPr>
            <a:r>
              <a:t>Тема: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000"/>
            </a:pPr>
            <a:r>
              <a:t>● Роботы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76072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latin typeface="Yu Gothic UI Semilight"/>
              </a:defRPr>
            </a:pPr>
            <a:r>
              <a:t>Автор: Максим</a:t>
            </a:r>
          </a:p>
        </p:txBody>
      </p:sp>
      <p:pic>
        <p:nvPicPr>
          <p:cNvPr id="7" name="Picture 6" descr="0000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0" y="3108960"/>
            <a:ext cx="3200400" cy="2489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</a:t>
            </a:r>
          </a:p>
        </p:txBody>
      </p:sp>
      <p:pic>
        <p:nvPicPr>
          <p:cNvPr id="3" name="Picture 2" descr="maket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9011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286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latin typeface="Candara Light"/>
              </a:defRPr>
            </a:pPr>
            <a:r>
              <a:t>▶ Введение</a:t>
            </a:r>
          </a:p>
        </p:txBody>
      </p:sp>
      <p:pic>
        <p:nvPicPr>
          <p:cNvPr id="5" name="Picture 4" descr="000003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94560"/>
            <a:ext cx="4114800" cy="320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109728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</a:p>
          <a:p>
            <a:pPr>
              <a:spcAft>
                <a:spcPts val="72"/>
              </a:spcAft>
              <a:defRPr sz="1800">
                <a:latin typeface="Trebuchet MS"/>
              </a:defRPr>
            </a:pPr>
            <a:r>
              <a:t>Роботы — это автоматизированны</a:t>
            </a:r>
          </a:p>
          <a:p>
            <a:pPr>
              <a:spcAft>
                <a:spcPts val="72"/>
              </a:spcAft>
              <a:defRPr sz="1800">
                <a:latin typeface="Trebuchet MS"/>
              </a:defRPr>
            </a:pPr>
            <a:r>
              <a:t>е устройства, способные выполн</a:t>
            </a:r>
          </a:p>
          <a:p>
            <a:pPr>
              <a:spcAft>
                <a:spcPts val="72"/>
              </a:spcAft>
              <a:defRPr sz="1800">
                <a:latin typeface="Trebuchet MS"/>
              </a:defRPr>
            </a:pPr>
            <a:r>
              <a:t>ять задачи, ранее доступные то</a:t>
            </a:r>
          </a:p>
          <a:p>
            <a:pPr>
              <a:spcAft>
                <a:spcPts val="72"/>
              </a:spcAft>
              <a:defRPr sz="1800">
                <a:latin typeface="Trebuchet MS"/>
              </a:defRPr>
            </a:pPr>
            <a:r>
              <a:t>лько человеку. Они объединяют</a:t>
            </a:r>
          </a:p>
          <a:p>
            <a:pPr>
              <a:spcAft>
                <a:spcPts val="72"/>
              </a:spcAft>
              <a:defRPr sz="1800">
                <a:latin typeface="Trebuchet MS"/>
              </a:defRPr>
            </a:pPr>
            <a:r>
              <a:t>механику, электронику и програ</a:t>
            </a:r>
          </a:p>
          <a:p>
            <a:pPr>
              <a:spcAft>
                <a:spcPts val="72"/>
              </a:spcAft>
              <a:defRPr sz="1800">
                <a:latin typeface="Trebuchet MS"/>
              </a:defRPr>
            </a:pPr>
            <a:r>
              <a:t>ммирование, расширяя возможнос</a:t>
            </a:r>
          </a:p>
          <a:p>
            <a:pPr>
              <a:spcAft>
                <a:spcPts val="72"/>
              </a:spcAft>
              <a:defRPr sz="1800">
                <a:latin typeface="Trebuchet MS"/>
              </a:defRPr>
            </a:pPr>
            <a:r>
              <a:t>ти производства, медицины, исс</a:t>
            </a:r>
          </a:p>
          <a:p>
            <a:pPr>
              <a:spcAft>
                <a:spcPts val="72"/>
              </a:spcAft>
              <a:defRPr sz="1800">
                <a:latin typeface="Trebuchet MS"/>
              </a:defRPr>
            </a:pPr>
            <a:r>
              <a:t>ледований и повседневной жизни</a:t>
            </a:r>
          </a:p>
          <a:p>
            <a:pPr>
              <a:spcAft>
                <a:spcPts val="72"/>
              </a:spcAft>
              <a:defRPr sz="1800">
                <a:latin typeface="Trebuchet MS"/>
              </a:defRPr>
            </a:pPr>
            <a: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</a:t>
            </a:r>
          </a:p>
        </p:txBody>
      </p:sp>
      <p:pic>
        <p:nvPicPr>
          <p:cNvPr id="3" name="Picture 2" descr="maket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9011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286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latin typeface="Candara Light"/>
              </a:defRPr>
            </a:pPr>
            <a:r>
              <a:t>▶ Что такое робот?</a:t>
            </a:r>
          </a:p>
        </p:txBody>
      </p:sp>
      <p:pic>
        <p:nvPicPr>
          <p:cNvPr id="5" name="Picture 4" descr="00000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94560"/>
            <a:ext cx="4114800" cy="320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109728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</a:p>
          <a:p>
            <a:pPr>
              <a:spcAft>
                <a:spcPts val="72"/>
              </a:spcAft>
              <a:defRPr sz="1800">
                <a:latin typeface="Trebuchet MS"/>
              </a:defRPr>
            </a:pPr>
            <a:r>
              <a:t>Робот — это программируемая те</a:t>
            </a:r>
          </a:p>
          <a:p>
            <a:pPr>
              <a:spcAft>
                <a:spcPts val="72"/>
              </a:spcAft>
              <a:defRPr sz="1800">
                <a:latin typeface="Trebuchet MS"/>
              </a:defRPr>
            </a:pPr>
            <a:r>
              <a:t>хническая система из механичес</a:t>
            </a:r>
          </a:p>
          <a:p>
            <a:pPr>
              <a:spcAft>
                <a:spcPts val="72"/>
              </a:spcAft>
              <a:defRPr sz="1800">
                <a:latin typeface="Trebuchet MS"/>
              </a:defRPr>
            </a:pPr>
            <a:r>
              <a:t>ких, электронных и программных</a:t>
            </a:r>
          </a:p>
          <a:p>
            <a:pPr>
              <a:spcAft>
                <a:spcPts val="72"/>
              </a:spcAft>
              <a:defRPr sz="1800">
                <a:latin typeface="Trebuchet MS"/>
              </a:defRPr>
            </a:pPr>
            <a:r>
              <a:t>компонентов. Он выполняет зад</a:t>
            </a:r>
          </a:p>
          <a:p>
            <a:pPr>
              <a:spcAft>
                <a:spcPts val="72"/>
              </a:spcAft>
              <a:defRPr sz="1800">
                <a:latin typeface="Trebuchet MS"/>
              </a:defRPr>
            </a:pPr>
            <a:r>
              <a:t>ачи автономно или под управлен</a:t>
            </a:r>
          </a:p>
          <a:p>
            <a:pPr>
              <a:spcAft>
                <a:spcPts val="72"/>
              </a:spcAft>
              <a:defRPr sz="1800">
                <a:latin typeface="Trebuchet MS"/>
              </a:defRPr>
            </a:pPr>
            <a:r>
              <a:t>ием оператора, заменяя человек</a:t>
            </a:r>
          </a:p>
          <a:p>
            <a:pPr>
              <a:spcAft>
                <a:spcPts val="72"/>
              </a:spcAft>
              <a:defRPr sz="1800">
                <a:latin typeface="Trebuchet MS"/>
              </a:defRPr>
            </a:pPr>
            <a:r>
              <a:t>а в опасных, рутинных или точн</a:t>
            </a:r>
          </a:p>
          <a:p>
            <a:pPr>
              <a:spcAft>
                <a:spcPts val="72"/>
              </a:spcAft>
              <a:defRPr sz="1800">
                <a:latin typeface="Trebuchet MS"/>
              </a:defRPr>
            </a:pPr>
            <a:r>
              <a:t>ых работах: от промышленной сб</a:t>
            </a:r>
          </a:p>
          <a:p>
            <a:pPr>
              <a:spcAft>
                <a:spcPts val="72"/>
              </a:spcAft>
              <a:defRPr sz="1800">
                <a:latin typeface="Trebuchet MS"/>
              </a:defRPr>
            </a:pPr>
            <a:r>
              <a:t>орки до медицинских операций и</a:t>
            </a:r>
          </a:p>
          <a:p>
            <a:pPr>
              <a:spcAft>
                <a:spcPts val="72"/>
              </a:spcAft>
              <a:defRPr sz="1800">
                <a:latin typeface="Trebuchet MS"/>
              </a:defRPr>
            </a:pPr>
            <a:r>
              <a:t>исследования космоса.</a:t>
            </a:r>
            <a:br/>
            <a:r>
              <a:t>(Объём:</a:t>
            </a:r>
          </a:p>
          <a:p>
            <a:pPr>
              <a:spcAft>
                <a:spcPts val="72"/>
              </a:spcAft>
              <a:defRPr sz="1800">
                <a:latin typeface="Trebuchet MS"/>
              </a:defRPr>
            </a:pPr>
            <a:r>
              <a:t>247 символов)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</a:t>
            </a:r>
          </a:p>
        </p:txBody>
      </p:sp>
      <p:pic>
        <p:nvPicPr>
          <p:cNvPr id="3" name="Picture 2" descr="maket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9011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286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latin typeface="Candara Light"/>
              </a:defRPr>
            </a:pPr>
            <a:r>
              <a:t>▶ Применение</a:t>
            </a:r>
          </a:p>
        </p:txBody>
      </p:sp>
      <p:pic>
        <p:nvPicPr>
          <p:cNvPr id="5" name="Picture 4" descr="00000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94560"/>
            <a:ext cx="4114800" cy="320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109728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</a:p>
          <a:p>
            <a:pPr>
              <a:spcAft>
                <a:spcPts val="72"/>
              </a:spcAft>
              <a:defRPr sz="1800">
                <a:latin typeface="Trebuchet MS"/>
              </a:defRPr>
            </a:pPr>
            <a:r>
              <a:t>Роботы применяются в промышлен</a:t>
            </a:r>
          </a:p>
          <a:p>
            <a:pPr>
              <a:spcAft>
                <a:spcPts val="72"/>
              </a:spcAft>
              <a:defRPr sz="1800">
                <a:latin typeface="Trebuchet MS"/>
              </a:defRPr>
            </a:pPr>
            <a:r>
              <a:t>ности (сборка, сварка, упаковк</a:t>
            </a:r>
          </a:p>
          <a:p>
            <a:pPr>
              <a:spcAft>
                <a:spcPts val="72"/>
              </a:spcAft>
              <a:defRPr sz="1800">
                <a:latin typeface="Trebuchet MS"/>
              </a:defRPr>
            </a:pPr>
            <a:r>
              <a:t>а), медицине (хирургические си</a:t>
            </a:r>
          </a:p>
          <a:p>
            <a:pPr>
              <a:spcAft>
                <a:spcPts val="72"/>
              </a:spcAft>
              <a:defRPr sz="1800">
                <a:latin typeface="Trebuchet MS"/>
              </a:defRPr>
            </a:pPr>
            <a:r>
              <a:t>стемы, реабилитация), логистик</a:t>
            </a:r>
          </a:p>
          <a:p>
            <a:pPr>
              <a:spcAft>
                <a:spcPts val="72"/>
              </a:spcAft>
              <a:defRPr sz="1800">
                <a:latin typeface="Trebuchet MS"/>
              </a:defRPr>
            </a:pPr>
            <a:r>
              <a:t>е (автоматические склады, дост</a:t>
            </a:r>
          </a:p>
          <a:p>
            <a:pPr>
              <a:spcAft>
                <a:spcPts val="72"/>
              </a:spcAft>
              <a:defRPr sz="1800">
                <a:latin typeface="Trebuchet MS"/>
              </a:defRPr>
            </a:pPr>
            <a:r>
              <a:t>авка), сельском хозяйстве (пос</a:t>
            </a:r>
          </a:p>
          <a:p>
            <a:pPr>
              <a:spcAft>
                <a:spcPts val="72"/>
              </a:spcAft>
              <a:defRPr sz="1800">
                <a:latin typeface="Trebuchet MS"/>
              </a:defRPr>
            </a:pPr>
            <a:r>
              <a:t>ев, уборка), а также в исследо</a:t>
            </a:r>
          </a:p>
          <a:p>
            <a:pPr>
              <a:spcAft>
                <a:spcPts val="72"/>
              </a:spcAft>
              <a:defRPr sz="1800">
                <a:latin typeface="Trebuchet MS"/>
              </a:defRPr>
            </a:pPr>
            <a:r>
              <a:t>вании космоса и подводных рабо</a:t>
            </a:r>
          </a:p>
          <a:p>
            <a:pPr>
              <a:spcAft>
                <a:spcPts val="72"/>
              </a:spcAft>
              <a:defRPr sz="1800">
                <a:latin typeface="Trebuchet MS"/>
              </a:defRPr>
            </a:pPr>
            <a:r>
              <a:t>тах.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</a:t>
            </a:r>
          </a:p>
        </p:txBody>
      </p:sp>
      <p:pic>
        <p:nvPicPr>
          <p:cNvPr id="3" name="Picture 2" descr="maket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9011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286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latin typeface="Candara Light"/>
              </a:defRPr>
            </a:pPr>
            <a:r>
              <a:t>▶ Вывод</a:t>
            </a:r>
          </a:p>
        </p:txBody>
      </p:sp>
      <p:pic>
        <p:nvPicPr>
          <p:cNvPr id="5" name="Picture 4" descr="00000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828800"/>
            <a:ext cx="4114800" cy="320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109728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</a:p>
          <a:p>
            <a:pPr>
              <a:spcAft>
                <a:spcPts val="72"/>
              </a:spcAft>
              <a:defRPr sz="1600">
                <a:latin typeface="Trebuchet MS"/>
              </a:defRPr>
            </a:pPr>
            <a:r>
              <a:t>Вывод: Роботы уже трансформиру</a:t>
            </a:r>
          </a:p>
          <a:p>
            <a:pPr>
              <a:spcAft>
                <a:spcPts val="72"/>
              </a:spcAft>
              <a:defRPr sz="1600">
                <a:latin typeface="Trebuchet MS"/>
              </a:defRPr>
            </a:pPr>
            <a:r>
              <a:t>ют производство, медицину, лог</a:t>
            </a:r>
          </a:p>
          <a:p>
            <a:pPr>
              <a:spcAft>
                <a:spcPts val="72"/>
              </a:spcAft>
              <a:defRPr sz="1600">
                <a:latin typeface="Trebuchet MS"/>
              </a:defRPr>
            </a:pPr>
            <a:r>
              <a:t>истику и повседневную жизнь, б</a:t>
            </a:r>
          </a:p>
          <a:p>
            <a:pPr>
              <a:spcAft>
                <a:spcPts val="72"/>
              </a:spcAft>
              <a:defRPr sz="1600">
                <a:latin typeface="Trebuchet MS"/>
              </a:defRPr>
            </a:pPr>
            <a:r>
              <a:t>еря на себя опасные и рутинные</a:t>
            </a:r>
          </a:p>
          <a:p>
            <a:pPr>
              <a:spcAft>
                <a:spcPts val="72"/>
              </a:spcAft>
              <a:defRPr sz="1600">
                <a:latin typeface="Trebuchet MS"/>
              </a:defRPr>
            </a:pPr>
            <a:r>
              <a:t>задачи, повышая эффективность</a:t>
            </a:r>
          </a:p>
          <a:p>
            <a:pPr>
              <a:spcAft>
                <a:spcPts val="72"/>
              </a:spcAft>
              <a:defRPr sz="1600">
                <a:latin typeface="Trebuchet MS"/>
              </a:defRPr>
            </a:pPr>
            <a:r>
              <a:t>процессов. Их массовое распро</a:t>
            </a:r>
          </a:p>
          <a:p>
            <a:pPr>
              <a:spcAft>
                <a:spcPts val="72"/>
              </a:spcAft>
              <a:defRPr sz="1600">
                <a:latin typeface="Trebuchet MS"/>
              </a:defRPr>
            </a:pPr>
            <a:r>
              <a:t>странение требует проработки э</a:t>
            </a:r>
          </a:p>
          <a:p>
            <a:pPr>
              <a:spcAft>
                <a:spcPts val="72"/>
              </a:spcAft>
              <a:defRPr sz="1600">
                <a:latin typeface="Trebuchet MS"/>
              </a:defRPr>
            </a:pPr>
            <a:r>
              <a:t>тических, правовых и социальны</a:t>
            </a:r>
          </a:p>
          <a:p>
            <a:pPr>
              <a:spcAft>
                <a:spcPts val="72"/>
              </a:spcAft>
              <a:defRPr sz="1600">
                <a:latin typeface="Trebuchet MS"/>
              </a:defRPr>
            </a:pPr>
            <a:r>
              <a:t>х норм, чтобы технологии работ</a:t>
            </a:r>
          </a:p>
          <a:p>
            <a:pPr>
              <a:spcAft>
                <a:spcPts val="72"/>
              </a:spcAft>
              <a:defRPr sz="1600">
                <a:latin typeface="Trebuchet MS"/>
              </a:defRPr>
            </a:pPr>
            <a:r>
              <a:t>али на благо человека.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end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